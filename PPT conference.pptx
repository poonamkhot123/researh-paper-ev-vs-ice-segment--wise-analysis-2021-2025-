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5" r:id="rId6"/>
    <p:sldId id="261" r:id="rId7"/>
    <p:sldId id="263" r:id="rId8"/>
    <p:sldId id="270" r:id="rId9"/>
    <p:sldId id="264" r:id="rId10"/>
    <p:sldId id="271" r:id="rId11"/>
    <p:sldId id="272" r:id="rId12"/>
    <p:sldId id="277" r:id="rId13"/>
    <p:sldId id="279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4D25EC-4011-4EDF-8453-B340783BE2C9}">
          <p14:sldIdLst>
            <p14:sldId id="256"/>
            <p14:sldId id="257"/>
            <p14:sldId id="258"/>
            <p14:sldId id="260"/>
            <p14:sldId id="265"/>
            <p14:sldId id="261"/>
            <p14:sldId id="263"/>
            <p14:sldId id="270"/>
            <p14:sldId id="264"/>
            <p14:sldId id="271"/>
            <p14:sldId id="272"/>
            <p14:sldId id="277"/>
            <p14:sldId id="279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4" autoAdjust="0"/>
    <p:restoredTop sz="94660"/>
  </p:normalViewPr>
  <p:slideViewPr>
    <p:cSldViewPr snapToGrid="0">
      <p:cViewPr>
        <p:scale>
          <a:sx n="66" d="100"/>
          <a:sy n="66" d="100"/>
        </p:scale>
        <p:origin x="151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FD59E-EEE5-418F-993A-C720FA5137C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44142-A14E-4905-82BC-D738B00EE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1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4641-8FCF-5E9C-DA24-E12588AF1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2221-AADD-70E8-179D-19FEDC594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3DF02-81C5-96D4-7385-6FA81D44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19D2C-636F-4CC1-8979-5C0363DC3D7C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AE1A-278D-73F5-BAE3-0E4888F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71E05-BDDB-DDDE-EFA9-479DE814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54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FEBB-2DD4-D97F-EDA4-5A89EBD9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C2A7-5A4B-AAD7-6864-8C540FC50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4CA1A-0B5E-814C-2B21-76538F0F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E0BCA-897A-45E7-989B-0A01159D92CF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CC5D-E130-5043-C5A7-2C36CA0E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70598-3DA5-8904-851A-AA8E1C40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862A-056C-751C-090D-33009146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AD596-3257-F3FC-0E9C-31EDEE61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70EC0-4C47-EFA4-9EC9-36E0BC73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4223-2FEF-466F-99ED-6E8E7550BD16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D103A-0DBA-880F-8000-55F786D8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F6123-2501-0CEC-82FB-2700F6D3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016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D431-0158-089B-2E6F-8B3CB3DE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C384-F23C-A683-E1FE-BFDA1A067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F20C8-774A-F2DA-F0D5-CCB34581D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93256-4968-A315-4E1D-5A11CC56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C876-4253-414E-B91D-B8022BE94905}" type="datetime1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DF736-EFB7-8AB8-5EB1-C188842F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EC045-22EB-ABC6-377E-B833722A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87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84E2-4BBB-1E4C-D8D4-88E196AB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9F15A-B62C-8F61-4A41-5A8F29C7C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7F77C-BEDE-68AC-2042-2CF66D9C2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535C3-7443-154B-1916-F8E85178A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0D890-12B0-DCD9-1B16-0DDC67695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2D374-0AAB-6379-D8F7-AFA97395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7CC5-9D4A-4AE1-93B8-25295BEC1B9D}" type="datetime1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9528E-F184-3401-36FD-94078C43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157D8-C2B3-D387-19A5-58260385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5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21EE-0834-510C-3899-43C37BA5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8A18B-2D89-A953-07E6-893F0DC9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A84D-CF42-450D-AD04-BCAAD6B8D17E}" type="datetime1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6444A-D16A-C055-476E-7A83AEBA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04117-B9F3-A112-2C95-9AB767BB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11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00500-6EB1-C3E4-EB46-9B5DD1C6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98FFD-FD23-4DFE-9800-BE37BC54710F}" type="datetime1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E2021-3E6F-1898-8EDC-C78E7E89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6CAFC-E061-B1F1-8AB0-829423B4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1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0364-9FBB-AB78-939B-000780F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1AAE-0D8A-E764-38C0-ACC000DE0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F09AD-4A08-600B-E0AF-4ABB5C3A4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F9D6E-90B5-A91A-C320-4A89F45B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2428-DC2A-4C6D-B3A6-0EE7F55F7783}" type="datetime1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0B960-B9B7-FE1E-0405-60BE5442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A2BF-72F9-7068-E651-8BA3FB03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86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05B3-8E40-C386-C979-DC44DF78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D55BC-1333-61DC-0DC9-EEBE672D5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84A6F-7AB9-4622-03D5-E5243F598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C406-E77B-3E80-9BAB-997F6D06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F393A-D0BF-43DC-8A96-DE48CE92A33F}" type="datetime1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38EF-B32D-9615-2F3E-948EFCD1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F8A7A-64E2-7F4B-2458-7779C1E1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6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D26A-3A3A-7E71-56CE-3871E6C8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75C5C-6277-8DFC-A257-B25695B56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35ED-CEDA-70AD-492A-F0B460175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2987-3573-48D0-BDC5-69BA6B1DD036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478A6-6CBD-2016-13BD-70FB96AB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85C3A-F164-28C2-AE92-A95F9252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47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5BA51-E216-DEC8-E243-8D535210F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11535-C271-F90F-809E-EEA58330F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60FB-E29B-6080-BAC2-0DF0DFE2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F99E-1CE6-47CA-B528-E4F170799BE9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C0773-BC5D-ABC3-D4A0-D3E940D7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5A272-7B10-4D02-97E6-2DD70512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0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24964-B8B6-9A9B-7E92-C0D83DD9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2171-D942-832E-59EB-CADC4920E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A4C6-B118-FD27-2E7A-6D50E8263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45B24-1B13-4EC0-96A0-3386A0F593B9}" type="datetime1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6981-E0D3-EA18-F597-555E36767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0A32-17FC-5C2C-4169-40D389A7E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F3EC7-A9FB-4643-AEF4-7FEA6B1694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51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81B87A-358B-4E87-5DAE-86555166301D}"/>
              </a:ext>
            </a:extLst>
          </p:cNvPr>
          <p:cNvSpPr/>
          <p:nvPr/>
        </p:nvSpPr>
        <p:spPr>
          <a:xfrm>
            <a:off x="1601733" y="-9427"/>
            <a:ext cx="9135398" cy="14157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R="27305" algn="ctr">
              <a:tabLst>
                <a:tab pos="571500" algn="l"/>
                <a:tab pos="685800" algn="l"/>
                <a:tab pos="1028700" algn="l"/>
                <a:tab pos="1257300" algn="l"/>
                <a:tab pos="4100830" algn="ctr"/>
              </a:tabLst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CHRISTIAN COLLEGE OF ENGINEERING AND TECHNOLOGY, BHILAI</a:t>
            </a:r>
          </a:p>
          <a:p>
            <a:pPr marR="27305" algn="ctr">
              <a:tabLst>
                <a:tab pos="571500" algn="l"/>
                <a:tab pos="685800" algn="l"/>
                <a:tab pos="1028700" algn="l"/>
                <a:tab pos="1257300" algn="l"/>
                <a:tab pos="4100830" algn="ctr"/>
              </a:tabLst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000" b="1" baseline="300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Conference on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Innovations in Science, Hybrid System and Various Technological Advances </a:t>
            </a:r>
            <a:r>
              <a:rPr lang="en-US" sz="2400" b="1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(IC-ISHVA 2025)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7305" algn="ctr">
              <a:tabLst>
                <a:tab pos="571500" algn="l"/>
                <a:tab pos="685800" algn="l"/>
                <a:tab pos="1028700" algn="l"/>
                <a:tab pos="1257300" algn="l"/>
                <a:tab pos="4100830" algn="ctr"/>
              </a:tabLst>
            </a:pP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16</a:t>
            </a:r>
            <a:r>
              <a:rPr lang="en-US" b="1" baseline="30000" dirty="0">
                <a:solidFill>
                  <a:srgbClr val="C00000"/>
                </a:solidFill>
                <a:latin typeface="Arial Narrow" panose="020B0606020202030204" pitchFamily="34" charset="0"/>
              </a:rPr>
              <a:t>th</a:t>
            </a: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 and 17</a:t>
            </a:r>
            <a:r>
              <a:rPr lang="en-US" b="1" baseline="30000" dirty="0">
                <a:solidFill>
                  <a:srgbClr val="C00000"/>
                </a:solidFill>
                <a:latin typeface="Arial Narrow" panose="020B0606020202030204" pitchFamily="34" charset="0"/>
              </a:rPr>
              <a:t>th</a:t>
            </a: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 December 2025</a:t>
            </a:r>
            <a:endParaRPr lang="en-US" b="1" dirty="0">
              <a:solidFill>
                <a:srgbClr val="C00000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E49E9F-5854-B7F2-D125-719827A42FF3}"/>
              </a:ext>
            </a:extLst>
          </p:cNvPr>
          <p:cNvSpPr/>
          <p:nvPr/>
        </p:nvSpPr>
        <p:spPr>
          <a:xfrm>
            <a:off x="1942485" y="1829757"/>
            <a:ext cx="9270358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EV vs ICE Market Share in India: A Segment-Wise Comparative Analysis </a:t>
            </a:r>
            <a:endParaRPr lang="en-IN" sz="2400" dirty="0">
              <a:highlight>
                <a:srgbClr val="FFFF00"/>
              </a:highlight>
            </a:endParaRPr>
          </a:p>
          <a:p>
            <a:pPr algn="ctr"/>
            <a:r>
              <a:rPr lang="en-IN" sz="2400" b="1" dirty="0">
                <a:highlight>
                  <a:srgbClr val="FFFF00"/>
                </a:highlight>
              </a:rPr>
              <a:t>(2021–2025) </a:t>
            </a:r>
            <a:endParaRPr lang="en-IN" sz="2400" dirty="0">
              <a:highlight>
                <a:srgbClr val="FFFF00"/>
              </a:highlight>
            </a:endParaRPr>
          </a:p>
          <a:p>
            <a:pPr algn="ctr"/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b="1" dirty="0">
                <a:latin typeface="Arial Narrow" panose="020B0606020202030204" pitchFamily="34" charset="0"/>
              </a:rPr>
              <a:t>Paper Id: </a:t>
            </a:r>
            <a:r>
              <a:rPr lang="en-IN" sz="2400" b="1" dirty="0"/>
              <a:t>003_Khot_IC-ISHVA2025 </a:t>
            </a:r>
            <a:endParaRPr lang="en-US" sz="2400" b="1" dirty="0">
              <a:latin typeface="Arial Narrow" panose="020B0606020202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772E6D-E3FB-94C7-1049-4C00864E84B8}"/>
              </a:ext>
            </a:extLst>
          </p:cNvPr>
          <p:cNvSpPr/>
          <p:nvPr/>
        </p:nvSpPr>
        <p:spPr>
          <a:xfrm>
            <a:off x="1458409" y="3577028"/>
            <a:ext cx="97544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Author’s name: </a:t>
            </a:r>
            <a:r>
              <a:rPr lang="en-US" sz="2000" b="1" dirty="0">
                <a:latin typeface="Lora" pitchFamily="2" charset="0"/>
              </a:rPr>
              <a:t> </a:t>
            </a:r>
            <a:r>
              <a:rPr lang="en-US" sz="2000" dirty="0">
                <a:latin typeface="Lora" pitchFamily="2" charset="0"/>
              </a:rPr>
              <a:t>Prof.</a:t>
            </a:r>
            <a:r>
              <a:rPr lang="en-IN" sz="2000" dirty="0">
                <a:latin typeface="Lora" pitchFamily="2" charset="0"/>
              </a:rPr>
              <a:t>Deepika </a:t>
            </a:r>
            <a:r>
              <a:rPr lang="en-IN" sz="2000" dirty="0" err="1">
                <a:latin typeface="Lora" pitchFamily="2" charset="0"/>
              </a:rPr>
              <a:t>Sarvate</a:t>
            </a:r>
            <a:r>
              <a:rPr lang="en-IN" sz="2000" dirty="0">
                <a:latin typeface="Lora" pitchFamily="2" charset="0"/>
              </a:rPr>
              <a:t>, Poonam khot, Shravani </a:t>
            </a:r>
            <a:r>
              <a:rPr lang="en-IN" sz="2000" dirty="0" err="1">
                <a:latin typeface="Lora" pitchFamily="2" charset="0"/>
              </a:rPr>
              <a:t>Yelbhar</a:t>
            </a:r>
            <a:r>
              <a:rPr lang="en-IN" sz="2000" dirty="0">
                <a:latin typeface="Lora" pitchFamily="2" charset="0"/>
              </a:rPr>
              <a:t>, Manisha Kadam </a:t>
            </a:r>
            <a:endParaRPr lang="en-US" sz="2000" dirty="0">
              <a:solidFill>
                <a:srgbClr val="C00000"/>
              </a:solidFill>
              <a:latin typeface="Lora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CD826-DB5E-FBCB-D789-6B89AAEB5943}"/>
              </a:ext>
            </a:extLst>
          </p:cNvPr>
          <p:cNvSpPr/>
          <p:nvPr/>
        </p:nvSpPr>
        <p:spPr>
          <a:xfrm>
            <a:off x="1458409" y="4618300"/>
            <a:ext cx="96185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Presented by: </a:t>
            </a:r>
            <a:r>
              <a:rPr lang="en-IN" sz="2400" dirty="0"/>
              <a:t>Poonam Anil Khot, MCA Department</a:t>
            </a:r>
            <a:br>
              <a:rPr lang="en-IN" sz="2400" dirty="0"/>
            </a:br>
            <a:r>
              <a:rPr lang="en-IN" sz="2400" dirty="0"/>
              <a:t>               JSPM </a:t>
            </a:r>
            <a:r>
              <a:rPr lang="en-IN" sz="2400" dirty="0" err="1"/>
              <a:t>Narhe</a:t>
            </a:r>
            <a:r>
              <a:rPr lang="en-IN" sz="2400" dirty="0"/>
              <a:t> Technical Campus</a:t>
            </a:r>
          </a:p>
          <a:p>
            <a:pPr algn="ctr"/>
            <a:r>
              <a:rPr lang="en-IN" sz="2400" dirty="0"/>
              <a:t>SPPU, Pune, India.</a:t>
            </a:r>
          </a:p>
          <a:p>
            <a:pPr algn="ctr"/>
            <a:endParaRPr lang="en-US" sz="24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97B9D32-033D-52BB-0961-EE516E8B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1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6C5F2-4E28-A398-65B9-03E867F30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30"/>
            <a:ext cx="1601732" cy="1413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289E52-BDBD-DA3E-4A66-31E492FCF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130" y="-9427"/>
            <a:ext cx="1454870" cy="143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7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1468" y="1138157"/>
            <a:ext cx="4364532" cy="80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00"/>
              </a:lnSpc>
              <a:spcBef>
                <a:spcPct val="0"/>
              </a:spcBef>
            </a:pPr>
            <a:r>
              <a:rPr lang="en-US" sz="4929" spc="64" dirty="0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84854" y="0"/>
            <a:ext cx="2059061" cy="6858000"/>
            <a:chOff x="0" y="0"/>
            <a:chExt cx="81345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-1614063" y="2804819"/>
            <a:ext cx="5695627" cy="1248363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85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604000" y="2108200"/>
            <a:ext cx="5689600" cy="3962400"/>
          </a:xfrm>
          <a:custGeom>
            <a:avLst/>
            <a:gdLst/>
            <a:ahLst/>
            <a:cxnLst/>
            <a:rect l="l" t="t" r="r" b="b"/>
            <a:pathLst>
              <a:path w="8956278" h="6659311">
                <a:moveTo>
                  <a:pt x="0" y="0"/>
                </a:moveTo>
                <a:lnTo>
                  <a:pt x="8956278" y="0"/>
                </a:lnTo>
                <a:lnTo>
                  <a:pt x="8956278" y="6659311"/>
                </a:lnTo>
                <a:lnTo>
                  <a:pt x="0" y="665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820" b="-10464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1586994" y="2461153"/>
            <a:ext cx="5763005" cy="3208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64" lvl="1" indent="-217182">
              <a:lnSpc>
                <a:spcPts val="2816"/>
              </a:lnSpc>
              <a:buFont typeface="Arial"/>
              <a:buChar char="•"/>
            </a:pPr>
            <a:r>
              <a:rPr lang="en-US" sz="2011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India’s EV adoption has accelerated since 2021</a:t>
            </a:r>
          </a:p>
          <a:p>
            <a:pPr marL="434364" lvl="1" indent="-217182">
              <a:lnSpc>
                <a:spcPts val="2816"/>
              </a:lnSpc>
              <a:buFont typeface="Arial"/>
              <a:buChar char="•"/>
            </a:pPr>
            <a:r>
              <a:rPr lang="en-US" sz="2011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Growth is driven by government subsidies, TCO benefits, and technological improvements</a:t>
            </a:r>
          </a:p>
          <a:p>
            <a:pPr marL="434364" lvl="1" indent="-217182">
              <a:lnSpc>
                <a:spcPts val="2816"/>
              </a:lnSpc>
              <a:buFont typeface="Arial"/>
              <a:buChar char="•"/>
            </a:pPr>
            <a:r>
              <a:rPr lang="en-US" sz="2011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Rapid expansion in 2W and 3W EV segments</a:t>
            </a:r>
          </a:p>
          <a:p>
            <a:pPr marL="434364" lvl="1" indent="-217182">
              <a:lnSpc>
                <a:spcPts val="2816"/>
              </a:lnSpc>
              <a:buFont typeface="Arial"/>
              <a:buChar char="•"/>
            </a:pPr>
            <a:r>
              <a:rPr lang="en-US" sz="2011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4W EV adoption remains slow but emerging</a:t>
            </a:r>
          </a:p>
          <a:p>
            <a:pPr marL="434364" lvl="1" indent="-217182">
              <a:lnSpc>
                <a:spcPts val="2816"/>
              </a:lnSpc>
              <a:buFont typeface="Arial"/>
              <a:buChar char="•"/>
            </a:pPr>
            <a:r>
              <a:rPr lang="en-US" sz="2011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This study compares EV vs ICE market share trends from 2021–2025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06859"/>
            <a:ext cx="6818845" cy="80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64"/>
              </a:lnSpc>
              <a:spcBef>
                <a:spcPct val="0"/>
              </a:spcBef>
            </a:pPr>
            <a:r>
              <a:rPr lang="en-US" sz="4307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Research Question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6849106" y="1641944"/>
            <a:ext cx="4181842" cy="4009341"/>
          </a:xfrm>
          <a:custGeom>
            <a:avLst/>
            <a:gdLst/>
            <a:ahLst/>
            <a:cxnLst/>
            <a:rect l="l" t="t" r="r" b="b"/>
            <a:pathLst>
              <a:path w="6272763" h="6014011">
                <a:moveTo>
                  <a:pt x="0" y="0"/>
                </a:moveTo>
                <a:lnTo>
                  <a:pt x="6272763" y="0"/>
                </a:lnTo>
                <a:lnTo>
                  <a:pt x="6272763" y="6014011"/>
                </a:lnTo>
                <a:lnTo>
                  <a:pt x="0" y="6014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4600" y="-847596"/>
            <a:ext cx="1907275" cy="1900123"/>
          </a:xfrm>
          <a:custGeom>
            <a:avLst/>
            <a:gdLst/>
            <a:ahLst/>
            <a:cxnLst/>
            <a:rect l="l" t="t" r="r" b="b"/>
            <a:pathLst>
              <a:path w="2860913" h="2850185">
                <a:moveTo>
                  <a:pt x="0" y="0"/>
                </a:moveTo>
                <a:lnTo>
                  <a:pt x="2860913" y="0"/>
                </a:lnTo>
                <a:lnTo>
                  <a:pt x="2860913" y="2850185"/>
                </a:lnTo>
                <a:lnTo>
                  <a:pt x="0" y="285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030948" y="5651284"/>
            <a:ext cx="2023589" cy="2016000"/>
          </a:xfrm>
          <a:custGeom>
            <a:avLst/>
            <a:gdLst/>
            <a:ahLst/>
            <a:cxnLst/>
            <a:rect l="l" t="t" r="r" b="b"/>
            <a:pathLst>
              <a:path w="3035383" h="3024000">
                <a:moveTo>
                  <a:pt x="0" y="0"/>
                </a:moveTo>
                <a:lnTo>
                  <a:pt x="3035383" y="0"/>
                </a:lnTo>
                <a:lnTo>
                  <a:pt x="3035383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50562" y="5651284"/>
            <a:ext cx="1284229" cy="983019"/>
          </a:xfrm>
          <a:custGeom>
            <a:avLst/>
            <a:gdLst/>
            <a:ahLst/>
            <a:cxnLst/>
            <a:rect l="l" t="t" r="r" b="b"/>
            <a:pathLst>
              <a:path w="1926343" h="1474528">
                <a:moveTo>
                  <a:pt x="0" y="0"/>
                </a:moveTo>
                <a:lnTo>
                  <a:pt x="1926343" y="0"/>
                </a:lnTo>
                <a:lnTo>
                  <a:pt x="1926343" y="1474528"/>
                </a:lnTo>
                <a:lnTo>
                  <a:pt x="0" y="1474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750692" y="557966"/>
            <a:ext cx="1284229" cy="983019"/>
          </a:xfrm>
          <a:custGeom>
            <a:avLst/>
            <a:gdLst/>
            <a:ahLst/>
            <a:cxnLst/>
            <a:rect l="l" t="t" r="r" b="b"/>
            <a:pathLst>
              <a:path w="1926343" h="1474528">
                <a:moveTo>
                  <a:pt x="0" y="0"/>
                </a:moveTo>
                <a:lnTo>
                  <a:pt x="1926343" y="0"/>
                </a:lnTo>
                <a:lnTo>
                  <a:pt x="1926343" y="1474528"/>
                </a:lnTo>
                <a:lnTo>
                  <a:pt x="0" y="1474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215280" y="3302645"/>
            <a:ext cx="4058105" cy="2982367"/>
          </a:xfrm>
          <a:custGeom>
            <a:avLst/>
            <a:gdLst/>
            <a:ahLst/>
            <a:cxnLst/>
            <a:rect l="l" t="t" r="r" b="b"/>
            <a:pathLst>
              <a:path w="6087157" h="4891466">
                <a:moveTo>
                  <a:pt x="0" y="0"/>
                </a:moveTo>
                <a:lnTo>
                  <a:pt x="6087157" y="0"/>
                </a:lnTo>
                <a:lnTo>
                  <a:pt x="6087157" y="4891465"/>
                </a:lnTo>
                <a:lnTo>
                  <a:pt x="0" y="4891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23925" y="229019"/>
            <a:ext cx="4252124" cy="3417595"/>
          </a:xfrm>
          <a:custGeom>
            <a:avLst/>
            <a:gdLst/>
            <a:ahLst/>
            <a:cxnLst/>
            <a:rect l="l" t="t" r="r" b="b"/>
            <a:pathLst>
              <a:path w="6378186" h="5126393">
                <a:moveTo>
                  <a:pt x="0" y="0"/>
                </a:moveTo>
                <a:lnTo>
                  <a:pt x="6378186" y="0"/>
                </a:lnTo>
                <a:lnTo>
                  <a:pt x="6378186" y="5126393"/>
                </a:lnTo>
                <a:lnTo>
                  <a:pt x="0" y="51263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0561" y="2072378"/>
            <a:ext cx="5545439" cy="272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2"/>
              </a:lnSpc>
              <a:spcBef>
                <a:spcPct val="0"/>
              </a:spcBef>
            </a:pPr>
            <a:r>
              <a:rPr lang="en-US" sz="31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How have EV market shares evolved compared to ICE vehicles in 2W, 3W, and 4W segments in India between 2021–2025?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97DB-9D15-DCD5-1754-6D036BC0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Lora" pitchFamily="2" charset="0"/>
                <a:ea typeface="TAN Pearl"/>
                <a:cs typeface="TAN Pearl"/>
                <a:sym typeface="TAN Pearl"/>
              </a:rPr>
              <a:t>Research Gap</a:t>
            </a:r>
            <a:br>
              <a:rPr lang="en-US" dirty="0">
                <a:solidFill>
                  <a:srgbClr val="0070C0"/>
                </a:solidFill>
                <a:latin typeface="Lora" pitchFamily="2" charset="0"/>
                <a:ea typeface="TAN Pearl"/>
                <a:cs typeface="TAN Pearl"/>
                <a:sym typeface="TAN Pearl"/>
              </a:rPr>
            </a:br>
            <a:endParaRPr lang="en-IN" dirty="0">
              <a:solidFill>
                <a:srgbClr val="0070C0"/>
              </a:solidFill>
              <a:latin typeface="Lor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E148-8F20-5EBD-8C1C-AFFDD8D8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24205" lvl="1" indent="-212103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010101"/>
                </a:solidFill>
                <a:latin typeface="Lora" pitchFamily="2" charset="0"/>
                <a:ea typeface="Lora Bold Italics"/>
                <a:cs typeface="Lora Bold Italics"/>
                <a:sym typeface="Lora Bold Italics"/>
              </a:rPr>
              <a:t>No unified EV vs ICE market share dataset</a:t>
            </a:r>
          </a:p>
          <a:p>
            <a:pPr marL="424205" lvl="1" indent="-212103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010101"/>
                </a:solidFill>
                <a:latin typeface="Lora" pitchFamily="2" charset="0"/>
                <a:ea typeface="Lora Bold Italics"/>
                <a:cs typeface="Lora Bold Italics"/>
                <a:sym typeface="Lora Bold Italics"/>
              </a:rPr>
              <a:t>Inconsistent denominators (registrations vs retail vs wholesale)</a:t>
            </a:r>
          </a:p>
          <a:p>
            <a:pPr marL="424205" lvl="1" indent="-212103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010101"/>
                </a:solidFill>
                <a:latin typeface="Lora" pitchFamily="2" charset="0"/>
                <a:ea typeface="Lora Bold Italics"/>
                <a:cs typeface="Lora Bold Italics"/>
                <a:sym typeface="Lora Bold Italics"/>
              </a:rPr>
              <a:t>Limited multi-year segment-wise comparative studies</a:t>
            </a:r>
          </a:p>
          <a:p>
            <a:pPr marL="424205" lvl="1" indent="-212103">
              <a:lnSpc>
                <a:spcPct val="200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010101"/>
                </a:solidFill>
                <a:latin typeface="Lora" pitchFamily="2" charset="0"/>
                <a:ea typeface="Lora Bold Italics"/>
                <a:cs typeface="Lora Bold Italics"/>
                <a:sym typeface="Lora Bold Italics"/>
              </a:rPr>
              <a:t>Lack of structural break &amp; policy-linked analysis</a:t>
            </a:r>
          </a:p>
          <a:p>
            <a:pPr marL="212102" lvl="1" indent="0">
              <a:lnSpc>
                <a:spcPct val="200000"/>
              </a:lnSpc>
              <a:spcBef>
                <a:spcPct val="0"/>
              </a:spcBef>
              <a:buNone/>
            </a:pPr>
            <a:endParaRPr lang="en-US" sz="2000" b="1" i="1" dirty="0">
              <a:solidFill>
                <a:srgbClr val="010101"/>
              </a:solidFill>
              <a:latin typeface="Lora" pitchFamily="2" charset="0"/>
              <a:ea typeface="Lora Bold Italics"/>
              <a:cs typeface="Lora Bold Italics"/>
              <a:sym typeface="Lora Bold Italics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sz="2000" b="1" i="1" dirty="0">
              <a:solidFill>
                <a:srgbClr val="010101"/>
              </a:solidFill>
              <a:latin typeface="Lora" pitchFamily="2" charset="0"/>
              <a:ea typeface="Lora Bold Italics"/>
              <a:cs typeface="Lora Bold Italics"/>
              <a:sym typeface="Lora Bold Italics"/>
            </a:endParaRPr>
          </a:p>
          <a:p>
            <a:pPr>
              <a:lnSpc>
                <a:spcPct val="200000"/>
              </a:lnSpc>
            </a:pPr>
            <a:endParaRPr lang="en-IN" sz="2000" dirty="0">
              <a:latin typeface="Lor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6AF8F-3684-E8FF-9A72-3AFC1CBD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4</a:t>
            </a:fld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409D01BC-AD1E-CB2E-2F19-299DF95B5413}"/>
              </a:ext>
            </a:extLst>
          </p:cNvPr>
          <p:cNvSpPr/>
          <p:nvPr/>
        </p:nvSpPr>
        <p:spPr>
          <a:xfrm rot="20460364">
            <a:off x="5973070" y="2414080"/>
            <a:ext cx="6315253" cy="3864613"/>
          </a:xfrm>
          <a:custGeom>
            <a:avLst/>
            <a:gdLst/>
            <a:ahLst/>
            <a:cxnLst/>
            <a:rect l="l" t="t" r="r" b="b"/>
            <a:pathLst>
              <a:path w="10692323" h="5796920">
                <a:moveTo>
                  <a:pt x="0" y="0"/>
                </a:moveTo>
                <a:lnTo>
                  <a:pt x="10692323" y="0"/>
                </a:lnTo>
                <a:lnTo>
                  <a:pt x="10692323" y="5796919"/>
                </a:lnTo>
                <a:lnTo>
                  <a:pt x="0" y="5796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90" b="-1890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3EC812-360D-5CD2-FDAD-296EC8F28796}"/>
              </a:ext>
            </a:extLst>
          </p:cNvPr>
          <p:cNvGrpSpPr/>
          <p:nvPr/>
        </p:nvGrpSpPr>
        <p:grpSpPr>
          <a:xfrm>
            <a:off x="1" y="-105945"/>
            <a:ext cx="12192000" cy="1341767"/>
            <a:chOff x="0" y="0"/>
            <a:chExt cx="5039628" cy="199433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13B8015-3B57-AB48-8043-8B059AEAF8BC}"/>
                </a:ext>
              </a:extLst>
            </p:cNvPr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en-US" sz="4800" dirty="0"/>
                <a:t>        Research Gap</a:t>
              </a:r>
              <a:endParaRPr lang="en-IN" sz="4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3B0E2B-F495-E173-255E-00A96BD217F3}"/>
                </a:ext>
              </a:extLst>
            </p:cNvPr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36"/>
                </a:lnSpc>
                <a:spcBef>
                  <a:spcPct val="0"/>
                </a:spcBef>
              </a:pP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271554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73543" y="5317481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6056" y="2724731"/>
            <a:ext cx="8523127" cy="3332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2196" lvl="1" indent="-226098">
              <a:lnSpc>
                <a:spcPct val="150000"/>
              </a:lnSpc>
              <a:buFont typeface="Arial"/>
              <a:buChar char="•"/>
            </a:pPr>
            <a:r>
              <a:rPr lang="en-US" sz="2094" b="1" dirty="0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Calculate year-wise EV market shares (2W, 3W, 4W) from 2021–2025</a:t>
            </a:r>
          </a:p>
          <a:p>
            <a:pPr marL="452196" lvl="1" indent="-226098">
              <a:lnSpc>
                <a:spcPct val="150000"/>
              </a:lnSpc>
              <a:buFont typeface="Arial"/>
              <a:buChar char="•"/>
            </a:pPr>
            <a:r>
              <a:rPr lang="en-US" sz="2094" b="1" dirty="0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Compare EV vs ICE adoption trends</a:t>
            </a:r>
          </a:p>
          <a:p>
            <a:pPr marL="452196" lvl="1" indent="-226098">
              <a:lnSpc>
                <a:spcPct val="150000"/>
              </a:lnSpc>
              <a:buFont typeface="Arial"/>
              <a:buChar char="•"/>
            </a:pPr>
            <a:r>
              <a:rPr lang="en-US" sz="2094" b="1" dirty="0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Identify factors affecting EV growth</a:t>
            </a:r>
          </a:p>
          <a:p>
            <a:pPr marL="452196" lvl="1" indent="-226098">
              <a:lnSpc>
                <a:spcPct val="150000"/>
              </a:lnSpc>
              <a:buFont typeface="Arial"/>
              <a:buChar char="•"/>
            </a:pPr>
            <a:r>
              <a:rPr lang="en-US" sz="2094" b="1" dirty="0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Detect structural breaks linked to policy changes</a:t>
            </a:r>
          </a:p>
          <a:p>
            <a:pPr marL="452196" lvl="1" indent="-226098">
              <a:lnSpc>
                <a:spcPct val="150000"/>
              </a:lnSpc>
              <a:buFont typeface="Arial"/>
              <a:buChar char="•"/>
            </a:pPr>
            <a:r>
              <a:rPr lang="en-US" sz="2094" b="1" dirty="0">
                <a:solidFill>
                  <a:srgbClr val="010101"/>
                </a:solidFill>
                <a:latin typeface="Lora Bold"/>
                <a:ea typeface="Lora Bold"/>
                <a:cs typeface="Lora Bold"/>
                <a:sym typeface="Lora Bold"/>
              </a:rPr>
              <a:t>Provide policy-level recommendations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094" b="1" dirty="0">
              <a:solidFill>
                <a:srgbClr val="010101"/>
              </a:solidFill>
              <a:latin typeface="Lora Bold"/>
              <a:ea typeface="Lora Bold"/>
              <a:cs typeface="Lora Bold"/>
              <a:sym typeface="Lora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" y="-105945"/>
            <a:ext cx="12192000" cy="1341767"/>
            <a:chOff x="0" y="0"/>
            <a:chExt cx="5039628" cy="1994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36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7613591" y="0"/>
            <a:ext cx="4389356" cy="3459120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1556702" y="1447581"/>
            <a:ext cx="4669659" cy="85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2"/>
              </a:lnSpc>
              <a:spcBef>
                <a:spcPct val="0"/>
              </a:spcBef>
            </a:pPr>
            <a:r>
              <a:rPr lang="en-US" sz="5187" dirty="0">
                <a:solidFill>
                  <a:srgbClr val="010101"/>
                </a:solidFill>
                <a:latin typeface="TAN Pearl" panose="020B0604020202020204" charset="0"/>
                <a:ea typeface="TAN Pearl"/>
                <a:cs typeface="TAN Pearl"/>
                <a:sym typeface="TAN Pearl"/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3232137" y="0"/>
            <a:ext cx="0" cy="6366076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3232137" cy="6244530"/>
            <a:chOff x="0" y="0"/>
            <a:chExt cx="12768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1527" y="649786"/>
            <a:ext cx="9988945" cy="5341865"/>
            <a:chOff x="0" y="0"/>
            <a:chExt cx="4694104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94104" cy="2167467"/>
            </a:xfrm>
            <a:custGeom>
              <a:avLst/>
              <a:gdLst/>
              <a:ahLst/>
              <a:cxnLst/>
              <a:rect l="l" t="t" r="r" b="b"/>
              <a:pathLst>
                <a:path w="4694104" h="2167467">
                  <a:moveTo>
                    <a:pt x="0" y="0"/>
                  </a:moveTo>
                  <a:lnTo>
                    <a:pt x="4694104" y="0"/>
                  </a:lnTo>
                  <a:lnTo>
                    <a:pt x="469410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694104" cy="21960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04069" y="1005861"/>
            <a:ext cx="8202487" cy="80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60"/>
              </a:lnSpc>
              <a:spcBef>
                <a:spcPct val="0"/>
              </a:spcBef>
            </a:pPr>
            <a:r>
              <a:rPr lang="en-US" sz="4305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Research 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97591" y="2185211"/>
            <a:ext cx="8964691" cy="369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679" lvl="1" indent="-226339">
              <a:lnSpc>
                <a:spcPts val="2935"/>
              </a:lnSpc>
              <a:buFont typeface="Arial"/>
              <a:buChar char="•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Design: Quantitative, longitudinal</a:t>
            </a:r>
          </a:p>
          <a:p>
            <a:pPr marL="452679" lvl="1" indent="-226339">
              <a:lnSpc>
                <a:spcPts val="2935"/>
              </a:lnSpc>
              <a:buFont typeface="Arial"/>
              <a:buChar char="•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Data Sources: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Vahan (MoRTH)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FADA retail reports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SIAM industry statistics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NITI Aayog, JMK Research, IEA</a:t>
            </a:r>
          </a:p>
          <a:p>
            <a:pPr marL="452679" lvl="1" indent="-226339">
              <a:lnSpc>
                <a:spcPts val="2935"/>
              </a:lnSpc>
              <a:buFont typeface="Arial"/>
              <a:buChar char="•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Steps: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Monthly → Annual aggregation</a:t>
            </a:r>
          </a:p>
          <a:p>
            <a:pPr marL="905357" lvl="2" indent="-301786">
              <a:lnSpc>
                <a:spcPts val="2935"/>
              </a:lnSpc>
              <a:buFont typeface="Arial"/>
              <a:buChar char="⚬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EV Units / Total Units × 100</a:t>
            </a:r>
          </a:p>
          <a:p>
            <a:pPr marL="452679" lvl="1" indent="-226339">
              <a:lnSpc>
                <a:spcPts val="2935"/>
              </a:lnSpc>
              <a:buFont typeface="Arial"/>
              <a:buChar char="•"/>
            </a:pPr>
            <a:r>
              <a:rPr lang="en-US" sz="2096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Tools: Excel, Python, Power BI</a:t>
            </a: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EC0ACA57-41CF-CB0C-E06C-F26385D9E2F5}"/>
              </a:ext>
            </a:extLst>
          </p:cNvPr>
          <p:cNvSpPr/>
          <p:nvPr/>
        </p:nvSpPr>
        <p:spPr>
          <a:xfrm>
            <a:off x="10494942" y="523029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505D811E-14C5-6FDE-3819-A1CCB9183C20}"/>
              </a:ext>
            </a:extLst>
          </p:cNvPr>
          <p:cNvSpPr/>
          <p:nvPr/>
        </p:nvSpPr>
        <p:spPr>
          <a:xfrm>
            <a:off x="8632723" y="0"/>
            <a:ext cx="3370223" cy="2930013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139E-8ADE-60D2-6B2D-017D88EE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Market Share Table (2021–2025)</a:t>
            </a:r>
            <a:br>
              <a:rPr lang="en-US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3787E6-0F2F-5AFD-CFE6-6AFBA92C1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525185"/>
              </p:ext>
            </p:extLst>
          </p:nvPr>
        </p:nvGraphicFramePr>
        <p:xfrm>
          <a:off x="838200" y="2240224"/>
          <a:ext cx="10515600" cy="322347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657957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06651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91835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1797568"/>
                    </a:ext>
                  </a:extLst>
                </a:gridCol>
              </a:tblGrid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2W EV Share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3W EV Share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4W EV Share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38371"/>
                  </a:ext>
                </a:extLst>
              </a:tr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624569"/>
                  </a:ext>
                </a:extLst>
              </a:tr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28.0%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373644"/>
                  </a:ext>
                </a:extLst>
              </a:tr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54.7%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382909"/>
                  </a:ext>
                </a:extLst>
              </a:tr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09971"/>
                  </a:ext>
                </a:extLst>
              </a:tr>
              <a:tr h="537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2025* (till May)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33.0%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66114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3E4B9-E9CC-75C1-1FBB-475EAEE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3EC7-A9FB-4643-AEF4-7FEA6B16943A}" type="slidenum">
              <a:rPr lang="en-IN" smtClean="0"/>
              <a:t>7</a:t>
            </a:fld>
            <a:endParaRPr lang="en-IN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12A07CBA-27F5-8A8D-1B14-7B14454A7C46}"/>
              </a:ext>
            </a:extLst>
          </p:cNvPr>
          <p:cNvGrpSpPr/>
          <p:nvPr/>
        </p:nvGrpSpPr>
        <p:grpSpPr>
          <a:xfrm>
            <a:off x="0" y="0"/>
            <a:ext cx="12192000" cy="1597306"/>
            <a:chOff x="0" y="0"/>
            <a:chExt cx="5039628" cy="1994339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046AF29-BC40-F6C3-91F8-4DF9AF3BA67E}"/>
                </a:ext>
              </a:extLst>
            </p:cNvPr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lnSpc>
                  <a:spcPct val="250000"/>
                </a:lnSpc>
              </a:pPr>
              <a:r>
                <a:rPr lang="en-US" sz="3200" dirty="0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       Market Share Table (2021–2025)</a:t>
              </a:r>
            </a:p>
            <a:p>
              <a:pPr>
                <a:lnSpc>
                  <a:spcPct val="250000"/>
                </a:lnSpc>
              </a:pPr>
              <a:endParaRPr lang="en-IN" sz="3200" dirty="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948EA078-AE15-6D43-6416-E2B6F93B3B27}"/>
                </a:ext>
              </a:extLst>
            </p:cNvPr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36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Freeform 8">
            <a:extLst>
              <a:ext uri="{FF2B5EF4-FFF2-40B4-BE49-F238E27FC236}">
                <a16:creationId xmlns:a16="http://schemas.microsoft.com/office/drawing/2014/main" id="{C8491979-7DA1-AC5D-C1C6-912C0CF17BEF}"/>
              </a:ext>
            </a:extLst>
          </p:cNvPr>
          <p:cNvSpPr/>
          <p:nvPr/>
        </p:nvSpPr>
        <p:spPr>
          <a:xfrm>
            <a:off x="8947355" y="0"/>
            <a:ext cx="3146322" cy="2146842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B4D03E68-EFE5-35E5-1349-02BD41B916BF}"/>
              </a:ext>
            </a:extLst>
          </p:cNvPr>
          <p:cNvSpPr/>
          <p:nvPr/>
        </p:nvSpPr>
        <p:spPr>
          <a:xfrm>
            <a:off x="10933471" y="5375445"/>
            <a:ext cx="1054510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6479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7838" y="196645"/>
            <a:ext cx="7721844" cy="5966266"/>
            <a:chOff x="0" y="0"/>
            <a:chExt cx="2804366" cy="2454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4366" cy="2454065"/>
            </a:xfrm>
            <a:custGeom>
              <a:avLst/>
              <a:gdLst/>
              <a:ahLst/>
              <a:cxnLst/>
              <a:rect l="l" t="t" r="r" b="b"/>
              <a:pathLst>
                <a:path w="2804366" h="2454065">
                  <a:moveTo>
                    <a:pt x="0" y="0"/>
                  </a:moveTo>
                  <a:lnTo>
                    <a:pt x="2804366" y="0"/>
                  </a:lnTo>
                  <a:lnTo>
                    <a:pt x="2804366" y="2454065"/>
                  </a:lnTo>
                  <a:lnTo>
                    <a:pt x="0" y="245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04366" cy="252074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99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5850" y="454272"/>
            <a:ext cx="508003" cy="449814"/>
          </a:xfrm>
          <a:custGeom>
            <a:avLst/>
            <a:gdLst/>
            <a:ahLst/>
            <a:cxnLst/>
            <a:rect l="l" t="t" r="r" b="b"/>
            <a:pathLst>
              <a:path w="762005" h="674721">
                <a:moveTo>
                  <a:pt x="0" y="0"/>
                </a:moveTo>
                <a:lnTo>
                  <a:pt x="762005" y="0"/>
                </a:lnTo>
                <a:lnTo>
                  <a:pt x="762005" y="674721"/>
                </a:lnTo>
                <a:lnTo>
                  <a:pt x="0" y="67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141670" y="-1"/>
            <a:ext cx="3894480" cy="6331683"/>
            <a:chOff x="0" y="0"/>
            <a:chExt cx="660400" cy="1456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456573"/>
            </a:xfrm>
            <a:custGeom>
              <a:avLst/>
              <a:gdLst/>
              <a:ahLst/>
              <a:cxnLst/>
              <a:rect l="l" t="t" r="r" b="b"/>
              <a:pathLst>
                <a:path w="660400" h="1456573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2802"/>
                  </a:cubicBezTo>
                  <a:lnTo>
                    <a:pt x="660400" y="1456573"/>
                  </a:lnTo>
                  <a:lnTo>
                    <a:pt x="0" y="1456573"/>
                  </a:lnTo>
                  <a:lnTo>
                    <a:pt x="0" y="34362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8425"/>
              <a:ext cx="660400" cy="13581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179" y="1838200"/>
            <a:ext cx="8398077" cy="4493483"/>
          </a:xfrm>
          <a:custGeom>
            <a:avLst/>
            <a:gdLst/>
            <a:ahLst/>
            <a:cxnLst/>
            <a:rect l="l" t="t" r="r" b="b"/>
            <a:pathLst>
              <a:path w="10966532" h="6675661">
                <a:moveTo>
                  <a:pt x="0" y="0"/>
                </a:moveTo>
                <a:lnTo>
                  <a:pt x="10966532" y="0"/>
                </a:lnTo>
                <a:lnTo>
                  <a:pt x="10966532" y="6675661"/>
                </a:lnTo>
                <a:lnTo>
                  <a:pt x="0" y="667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31" r="-11" b="-1748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1060924" y="708149"/>
            <a:ext cx="5678118" cy="67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5"/>
              </a:lnSpc>
              <a:spcBef>
                <a:spcPct val="0"/>
              </a:spcBef>
            </a:pPr>
            <a:r>
              <a:rPr lang="en-US" sz="3509" dirty="0">
                <a:solidFill>
                  <a:srgbClr val="000000"/>
                </a:solidFill>
                <a:latin typeface="Lora" pitchFamily="2" charset="0"/>
                <a:ea typeface="TAN Pearl"/>
                <a:cs typeface="TAN Pearl"/>
                <a:sym typeface="TAN Pearl"/>
              </a:rPr>
              <a:t>2W Market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923" y="1838200"/>
            <a:ext cx="6138530" cy="315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Share increased from 1.2% → 6.1%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Driven by: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Affordable models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Low running cost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State subsidies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High potential due to daily commute demand</a:t>
            </a:r>
          </a:p>
          <a:p>
            <a:pPr algn="just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7838" y="213445"/>
            <a:ext cx="7098550" cy="5949466"/>
            <a:chOff x="0" y="0"/>
            <a:chExt cx="2804366" cy="2454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4366" cy="2454065"/>
            </a:xfrm>
            <a:custGeom>
              <a:avLst/>
              <a:gdLst/>
              <a:ahLst/>
              <a:cxnLst/>
              <a:rect l="l" t="t" r="r" b="b"/>
              <a:pathLst>
                <a:path w="2804366" h="2454065">
                  <a:moveTo>
                    <a:pt x="0" y="0"/>
                  </a:moveTo>
                  <a:lnTo>
                    <a:pt x="2804366" y="0"/>
                  </a:lnTo>
                  <a:lnTo>
                    <a:pt x="2804366" y="2454065"/>
                  </a:lnTo>
                  <a:lnTo>
                    <a:pt x="0" y="245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04366" cy="252074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99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5850" y="454272"/>
            <a:ext cx="508003" cy="449814"/>
          </a:xfrm>
          <a:custGeom>
            <a:avLst/>
            <a:gdLst/>
            <a:ahLst/>
            <a:cxnLst/>
            <a:rect l="l" t="t" r="r" b="b"/>
            <a:pathLst>
              <a:path w="762005" h="674721">
                <a:moveTo>
                  <a:pt x="0" y="0"/>
                </a:moveTo>
                <a:lnTo>
                  <a:pt x="762005" y="0"/>
                </a:lnTo>
                <a:lnTo>
                  <a:pt x="762005" y="674721"/>
                </a:lnTo>
                <a:lnTo>
                  <a:pt x="0" y="67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159474" y="-48941"/>
            <a:ext cx="3876676" cy="6380623"/>
            <a:chOff x="0" y="0"/>
            <a:chExt cx="660400" cy="1456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456573"/>
            </a:xfrm>
            <a:custGeom>
              <a:avLst/>
              <a:gdLst/>
              <a:ahLst/>
              <a:cxnLst/>
              <a:rect l="l" t="t" r="r" b="b"/>
              <a:pathLst>
                <a:path w="660400" h="1456573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2802"/>
                  </a:cubicBezTo>
                  <a:lnTo>
                    <a:pt x="660400" y="1456573"/>
                  </a:lnTo>
                  <a:lnTo>
                    <a:pt x="0" y="1456573"/>
                  </a:lnTo>
                  <a:lnTo>
                    <a:pt x="0" y="34362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98425"/>
              <a:ext cx="660400" cy="13581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5691464" y="1062558"/>
            <a:ext cx="6344686" cy="5437896"/>
          </a:xfrm>
          <a:custGeom>
            <a:avLst/>
            <a:gdLst/>
            <a:ahLst/>
            <a:cxnLst/>
            <a:rect l="l" t="t" r="r" b="b"/>
            <a:pathLst>
              <a:path w="11007655" h="8156844">
                <a:moveTo>
                  <a:pt x="0" y="0"/>
                </a:moveTo>
                <a:lnTo>
                  <a:pt x="11007655" y="0"/>
                </a:lnTo>
                <a:lnTo>
                  <a:pt x="11007655" y="8156844"/>
                </a:lnTo>
                <a:lnTo>
                  <a:pt x="0" y="8156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10" r="-1809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1060924" y="708149"/>
            <a:ext cx="5678118" cy="67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5"/>
              </a:lnSpc>
              <a:spcBef>
                <a:spcPct val="0"/>
              </a:spcBef>
            </a:pPr>
            <a:r>
              <a:rPr lang="en-US" sz="3509" dirty="0">
                <a:solidFill>
                  <a:srgbClr val="000000"/>
                </a:solidFill>
                <a:latin typeface="Lora" pitchFamily="2" charset="0"/>
                <a:ea typeface="TAN Pearl"/>
                <a:cs typeface="TAN Pearl"/>
                <a:sym typeface="TAN Pearl"/>
              </a:rPr>
              <a:t>3W Market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924" y="1838200"/>
            <a:ext cx="5351897" cy="315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Largest EV adoption in India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EV share grew from 15% → 70%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Reasons: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High vehicle utilization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Strong TCO advantage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E-commerce &amp; last-mile delivery boom</a:t>
            </a:r>
          </a:p>
          <a:p>
            <a:pPr algn="just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7838" y="115747"/>
            <a:ext cx="7098550" cy="6047164"/>
            <a:chOff x="0" y="0"/>
            <a:chExt cx="2804366" cy="2454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4366" cy="2454065"/>
            </a:xfrm>
            <a:custGeom>
              <a:avLst/>
              <a:gdLst/>
              <a:ahLst/>
              <a:cxnLst/>
              <a:rect l="l" t="t" r="r" b="b"/>
              <a:pathLst>
                <a:path w="2804366" h="2454065">
                  <a:moveTo>
                    <a:pt x="0" y="0"/>
                  </a:moveTo>
                  <a:lnTo>
                    <a:pt x="2804366" y="0"/>
                  </a:lnTo>
                  <a:lnTo>
                    <a:pt x="2804366" y="2454065"/>
                  </a:lnTo>
                  <a:lnTo>
                    <a:pt x="0" y="24540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04366" cy="252074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99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7132387" y="5938004"/>
            <a:ext cx="508003" cy="449814"/>
          </a:xfrm>
          <a:custGeom>
            <a:avLst/>
            <a:gdLst/>
            <a:ahLst/>
            <a:cxnLst/>
            <a:rect l="l" t="t" r="r" b="b"/>
            <a:pathLst>
              <a:path w="762005" h="674721">
                <a:moveTo>
                  <a:pt x="762006" y="0"/>
                </a:moveTo>
                <a:lnTo>
                  <a:pt x="0" y="0"/>
                </a:lnTo>
                <a:lnTo>
                  <a:pt x="0" y="674722"/>
                </a:lnTo>
                <a:lnTo>
                  <a:pt x="762006" y="674722"/>
                </a:lnTo>
                <a:lnTo>
                  <a:pt x="7620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850" y="454272"/>
            <a:ext cx="508003" cy="449814"/>
          </a:xfrm>
          <a:custGeom>
            <a:avLst/>
            <a:gdLst/>
            <a:ahLst/>
            <a:cxnLst/>
            <a:rect l="l" t="t" r="r" b="b"/>
            <a:pathLst>
              <a:path w="762005" h="674721">
                <a:moveTo>
                  <a:pt x="0" y="0"/>
                </a:moveTo>
                <a:lnTo>
                  <a:pt x="762005" y="0"/>
                </a:lnTo>
                <a:lnTo>
                  <a:pt x="762005" y="674721"/>
                </a:lnTo>
                <a:lnTo>
                  <a:pt x="0" y="67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040441" y="-48941"/>
            <a:ext cx="3995710" cy="6380624"/>
            <a:chOff x="0" y="0"/>
            <a:chExt cx="660400" cy="14565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1456573"/>
            </a:xfrm>
            <a:custGeom>
              <a:avLst/>
              <a:gdLst/>
              <a:ahLst/>
              <a:cxnLst/>
              <a:rect l="l" t="t" r="r" b="b"/>
              <a:pathLst>
                <a:path w="660400" h="1456573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2802"/>
                  </a:cubicBezTo>
                  <a:lnTo>
                    <a:pt x="660400" y="1456573"/>
                  </a:lnTo>
                  <a:lnTo>
                    <a:pt x="0" y="1456573"/>
                  </a:lnTo>
                  <a:lnTo>
                    <a:pt x="0" y="34362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98425"/>
              <a:ext cx="660400" cy="13581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4487837" y="3245704"/>
            <a:ext cx="7398035" cy="3823471"/>
          </a:xfrm>
          <a:custGeom>
            <a:avLst/>
            <a:gdLst/>
            <a:ahLst/>
            <a:cxnLst/>
            <a:rect l="l" t="t" r="r" b="b"/>
            <a:pathLst>
              <a:path w="11097053" h="5735207">
                <a:moveTo>
                  <a:pt x="11097053" y="0"/>
                </a:moveTo>
                <a:lnTo>
                  <a:pt x="0" y="0"/>
                </a:lnTo>
                <a:lnTo>
                  <a:pt x="0" y="5735207"/>
                </a:lnTo>
                <a:lnTo>
                  <a:pt x="11097053" y="5735207"/>
                </a:lnTo>
                <a:lnTo>
                  <a:pt x="11097053" y="0"/>
                </a:lnTo>
                <a:close/>
              </a:path>
            </a:pathLst>
          </a:custGeom>
          <a:blipFill>
            <a:blip r:embed="rId4"/>
            <a:stretch>
              <a:fillRect l="-12680" r="-589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60924" y="708149"/>
            <a:ext cx="5678118" cy="673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5"/>
              </a:lnSpc>
              <a:spcBef>
                <a:spcPct val="0"/>
              </a:spcBef>
            </a:pPr>
            <a:r>
              <a:rPr lang="en-US" sz="3509" dirty="0">
                <a:solidFill>
                  <a:srgbClr val="000000"/>
                </a:solidFill>
                <a:latin typeface="Lora" pitchFamily="2" charset="0"/>
                <a:ea typeface="TAN Pearl"/>
                <a:cs typeface="TAN Pearl"/>
                <a:sym typeface="TAN Pearl"/>
              </a:rPr>
              <a:t>4W Market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0923" y="1838200"/>
            <a:ext cx="5187055" cy="315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Slow adoption: 2.5% → 4%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Barriers: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High upfront cost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Limited charging infrastructure</a:t>
            </a:r>
          </a:p>
          <a:p>
            <a:pPr marL="967350" lvl="2" indent="-322450" algn="just">
              <a:lnSpc>
                <a:spcPts val="3136"/>
              </a:lnSpc>
              <a:spcBef>
                <a:spcPct val="0"/>
              </a:spcBef>
              <a:buFont typeface="Arial"/>
              <a:buChar char="⚬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Range anxiety</a:t>
            </a:r>
          </a:p>
          <a:p>
            <a:pPr marL="483675" lvl="1" indent="-241837" algn="just">
              <a:lnSpc>
                <a:spcPts val="3136"/>
              </a:lnSpc>
              <a:spcBef>
                <a:spcPct val="0"/>
              </a:spcBef>
              <a:buFont typeface="Arial"/>
              <a:buChar char="•"/>
            </a:pP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Growth mostly fleet-driven (Uber, </a:t>
            </a:r>
            <a:r>
              <a:rPr lang="en-US" sz="2240" dirty="0" err="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BluSmart</a:t>
            </a:r>
            <a:r>
              <a:rPr lang="en-US" sz="2240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)</a:t>
            </a:r>
          </a:p>
          <a:p>
            <a:pPr algn="just">
              <a:lnSpc>
                <a:spcPts val="3136"/>
              </a:lnSpc>
              <a:spcBef>
                <a:spcPct val="0"/>
              </a:spcBef>
            </a:pPr>
            <a:endParaRPr lang="en-US" sz="2240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3232137" y="-1"/>
            <a:ext cx="0" cy="6281609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-65860"/>
            <a:ext cx="3232137" cy="6420940"/>
            <a:chOff x="0" y="-28575"/>
            <a:chExt cx="1276894" cy="27379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4426" y="685800"/>
            <a:ext cx="9856800" cy="5486400"/>
            <a:chOff x="0" y="0"/>
            <a:chExt cx="4694104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94104" cy="2167467"/>
            </a:xfrm>
            <a:custGeom>
              <a:avLst/>
              <a:gdLst/>
              <a:ahLst/>
              <a:cxnLst/>
              <a:rect l="l" t="t" r="r" b="b"/>
              <a:pathLst>
                <a:path w="4694104" h="2167467">
                  <a:moveTo>
                    <a:pt x="0" y="0"/>
                  </a:moveTo>
                  <a:lnTo>
                    <a:pt x="4694104" y="0"/>
                  </a:lnTo>
                  <a:lnTo>
                    <a:pt x="469410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694104" cy="21960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1"/>
                </a:lnSpc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443032" y="1157241"/>
            <a:ext cx="8202487" cy="82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60"/>
              </a:lnSpc>
              <a:spcBef>
                <a:spcPct val="0"/>
              </a:spcBef>
            </a:pPr>
            <a:r>
              <a:rPr lang="en-US" sz="4305" dirty="0">
                <a:solidFill>
                  <a:srgbClr val="000000"/>
                </a:solidFill>
                <a:latin typeface="Lora" pitchFamily="2" charset="0"/>
                <a:ea typeface="TAN Pearl"/>
                <a:cs typeface="TAN Pearl"/>
                <a:sym typeface="TAN Pearl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7276" y="2412281"/>
            <a:ext cx="8697449" cy="373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64" lvl="1" indent="-323982">
              <a:lnSpc>
                <a:spcPts val="4202"/>
              </a:lnSpc>
              <a:buFont typeface="Arial"/>
              <a:buChar char="•"/>
            </a:pPr>
            <a:r>
              <a:rPr lang="en-US" sz="30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India’s EV transition is strong but uneven</a:t>
            </a:r>
          </a:p>
          <a:p>
            <a:pPr marL="647964" lvl="1" indent="-323982">
              <a:lnSpc>
                <a:spcPts val="4202"/>
              </a:lnSpc>
              <a:buFont typeface="Arial"/>
              <a:buChar char="•"/>
            </a:pPr>
            <a:r>
              <a:rPr lang="en-US" sz="30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3W → fastest adoption</a:t>
            </a:r>
          </a:p>
          <a:p>
            <a:pPr marL="647964" lvl="1" indent="-323982">
              <a:lnSpc>
                <a:spcPts val="4202"/>
              </a:lnSpc>
              <a:buFont typeface="Arial"/>
              <a:buChar char="•"/>
            </a:pPr>
            <a:r>
              <a:rPr lang="en-US" sz="30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2W → rising </a:t>
            </a:r>
            <a:r>
              <a:rPr lang="en-US" sz="3001" dirty="0" err="1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rapidly,Growing</a:t>
            </a:r>
            <a:endParaRPr lang="en-US" sz="3001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  <a:p>
            <a:pPr marL="647964" lvl="1" indent="-323982">
              <a:lnSpc>
                <a:spcPts val="4202"/>
              </a:lnSpc>
              <a:buFont typeface="Arial"/>
              <a:buChar char="•"/>
            </a:pPr>
            <a:r>
              <a:rPr lang="en-US" sz="30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4W → slow, premium segment challenges</a:t>
            </a:r>
          </a:p>
          <a:p>
            <a:pPr marL="647964" lvl="1" indent="-323982">
              <a:lnSpc>
                <a:spcPts val="4202"/>
              </a:lnSpc>
              <a:buFont typeface="Arial"/>
              <a:buChar char="•"/>
            </a:pPr>
            <a:r>
              <a:rPr lang="en-US" sz="3001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Policy stability &amp; charging infra expansion are key</a:t>
            </a:r>
          </a:p>
          <a:p>
            <a:pPr>
              <a:lnSpc>
                <a:spcPts val="4202"/>
              </a:lnSpc>
            </a:pPr>
            <a:endParaRPr lang="en-US" sz="3001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CDCA9AA3-4D5A-D358-EAF3-EF0876B84C98}"/>
              </a:ext>
            </a:extLst>
          </p:cNvPr>
          <p:cNvSpPr/>
          <p:nvPr/>
        </p:nvSpPr>
        <p:spPr>
          <a:xfrm>
            <a:off x="10699431" y="561348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4"/>
                </a:lnTo>
                <a:lnTo>
                  <a:pt x="0" y="167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57AC-F8DF-3967-F43D-274FE231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4CF057-A863-24AF-B2B0-3D385F2CAF39}"/>
              </a:ext>
            </a:extLst>
          </p:cNvPr>
          <p:cNvSpPr/>
          <p:nvPr/>
        </p:nvSpPr>
        <p:spPr>
          <a:xfrm flipH="1">
            <a:off x="3232137" y="-1"/>
            <a:ext cx="0" cy="6281609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6226AC3-C093-B16D-0FF9-4CBC26A8FAC5}"/>
              </a:ext>
            </a:extLst>
          </p:cNvPr>
          <p:cNvGrpSpPr/>
          <p:nvPr/>
        </p:nvGrpSpPr>
        <p:grpSpPr>
          <a:xfrm>
            <a:off x="0" y="-65860"/>
            <a:ext cx="3232137" cy="6420940"/>
            <a:chOff x="0" y="-28575"/>
            <a:chExt cx="1276894" cy="27379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C20D9A9-913A-3996-BE4E-CF748F0D3966}"/>
                </a:ext>
              </a:extLst>
            </p:cNvPr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43EFCA-F462-4D43-4CD8-88565A5661BE}"/>
                </a:ext>
              </a:extLst>
            </p:cNvPr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FC739B5-59F6-C77B-2E07-6AA69CF47A2C}"/>
              </a:ext>
            </a:extLst>
          </p:cNvPr>
          <p:cNvGrpSpPr/>
          <p:nvPr/>
        </p:nvGrpSpPr>
        <p:grpSpPr>
          <a:xfrm>
            <a:off x="1081276" y="502920"/>
            <a:ext cx="9856800" cy="5486400"/>
            <a:chOff x="0" y="0"/>
            <a:chExt cx="4694104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37F9AAA-6D15-A4E6-2783-90671F9BF140}"/>
                </a:ext>
              </a:extLst>
            </p:cNvPr>
            <p:cNvSpPr/>
            <p:nvPr/>
          </p:nvSpPr>
          <p:spPr>
            <a:xfrm>
              <a:off x="0" y="0"/>
              <a:ext cx="4694104" cy="2167467"/>
            </a:xfrm>
            <a:custGeom>
              <a:avLst/>
              <a:gdLst/>
              <a:ahLst/>
              <a:cxnLst/>
              <a:rect l="l" t="t" r="r" b="b"/>
              <a:pathLst>
                <a:path w="4694104" h="2167467">
                  <a:moveTo>
                    <a:pt x="0" y="0"/>
                  </a:moveTo>
                  <a:lnTo>
                    <a:pt x="4694104" y="0"/>
                  </a:lnTo>
                  <a:lnTo>
                    <a:pt x="469410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356E115-7966-D8F0-8D43-50A125A7774E}"/>
                </a:ext>
              </a:extLst>
            </p:cNvPr>
            <p:cNvSpPr txBox="1"/>
            <p:nvPr/>
          </p:nvSpPr>
          <p:spPr>
            <a:xfrm>
              <a:off x="0" y="-28575"/>
              <a:ext cx="4694104" cy="21960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D97CEF0-E2B1-9210-9D02-722D7B683DD2}"/>
              </a:ext>
            </a:extLst>
          </p:cNvPr>
          <p:cNvSpPr txBox="1"/>
          <p:nvPr/>
        </p:nvSpPr>
        <p:spPr>
          <a:xfrm>
            <a:off x="1081276" y="868680"/>
            <a:ext cx="9363449" cy="5099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Lora" pitchFamily="2" charset="0"/>
              </a:rPr>
              <a:t>Recommendations</a:t>
            </a:r>
          </a:p>
          <a:p>
            <a:endParaRPr lang="en-US" sz="2400" b="1" dirty="0"/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Focus on segments:</a:t>
            </a:r>
            <a:r>
              <a:rPr lang="en-US" sz="2400" dirty="0"/>
              <a:t> Support 3W EVs with continued incentives; improve financing and incentives for 4W buyers.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Improve charging infrastructure:</a:t>
            </a:r>
            <a:r>
              <a:rPr lang="en-US" sz="2400" dirty="0"/>
              <a:t> Expand urban charging for 2W/3W and fast-charging corridors for 4W.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Better data availability:</a:t>
            </a:r>
            <a:r>
              <a:rPr lang="en-US" sz="2400" dirty="0"/>
              <a:t> Publish </a:t>
            </a:r>
            <a:r>
              <a:rPr lang="en-US" sz="2400" dirty="0" err="1"/>
              <a:t>standardised</a:t>
            </a:r>
            <a:r>
              <a:rPr lang="en-US" sz="2400" dirty="0"/>
              <a:t> monthly EV sales data for research and policy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Encourage advanced research:</a:t>
            </a:r>
            <a:r>
              <a:rPr lang="en-US" sz="2400" dirty="0"/>
              <a:t> Use impact analysis and forecasting models to evaluate EV policies.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marR="0" lvl="0" indent="-342900" algn="l" defTabSz="914400" rtl="0" eaLnBrk="1" fontAlgn="auto" latinLnBrk="0" hangingPunct="1">
              <a:lnSpc>
                <a:spcPts val="42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10101"/>
              </a:solidFill>
              <a:effectLst/>
              <a:uLnTx/>
              <a:uFillTx/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51E40144-BA33-54AB-03BB-23BA4DC3BB23}"/>
              </a:ext>
            </a:extLst>
          </p:cNvPr>
          <p:cNvSpPr/>
          <p:nvPr/>
        </p:nvSpPr>
        <p:spPr>
          <a:xfrm>
            <a:off x="10699431" y="561348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4"/>
                </a:lnTo>
                <a:lnTo>
                  <a:pt x="0" y="167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636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FE11-A2C2-C239-3645-15D78EFF3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8B0A5C-CE66-201C-AEE8-1F8F9934D780}"/>
              </a:ext>
            </a:extLst>
          </p:cNvPr>
          <p:cNvSpPr/>
          <p:nvPr/>
        </p:nvSpPr>
        <p:spPr>
          <a:xfrm flipH="1">
            <a:off x="3232137" y="-1"/>
            <a:ext cx="0" cy="6281609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694B06-59CF-BED2-2491-82F7E6B7892E}"/>
              </a:ext>
            </a:extLst>
          </p:cNvPr>
          <p:cNvGrpSpPr/>
          <p:nvPr/>
        </p:nvGrpSpPr>
        <p:grpSpPr>
          <a:xfrm>
            <a:off x="0" y="-65860"/>
            <a:ext cx="3232137" cy="6420940"/>
            <a:chOff x="0" y="-28575"/>
            <a:chExt cx="1276894" cy="27379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9A9898-8203-28EC-6952-A8C806F63AD4}"/>
                </a:ext>
              </a:extLst>
            </p:cNvPr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C527A59-AF6C-DB2B-1FE1-AFE1D27A67D4}"/>
                </a:ext>
              </a:extLst>
            </p:cNvPr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D51C7E5-DFAE-F2FB-3C5C-03F7D4B27411}"/>
              </a:ext>
            </a:extLst>
          </p:cNvPr>
          <p:cNvGrpSpPr/>
          <p:nvPr/>
        </p:nvGrpSpPr>
        <p:grpSpPr>
          <a:xfrm>
            <a:off x="1081276" y="502920"/>
            <a:ext cx="9856800" cy="5486400"/>
            <a:chOff x="0" y="0"/>
            <a:chExt cx="4694104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9947361-1996-A602-3A83-26BC72F05CD2}"/>
                </a:ext>
              </a:extLst>
            </p:cNvPr>
            <p:cNvSpPr/>
            <p:nvPr/>
          </p:nvSpPr>
          <p:spPr>
            <a:xfrm>
              <a:off x="0" y="0"/>
              <a:ext cx="4694104" cy="2167467"/>
            </a:xfrm>
            <a:custGeom>
              <a:avLst/>
              <a:gdLst/>
              <a:ahLst/>
              <a:cxnLst/>
              <a:rect l="l" t="t" r="r" b="b"/>
              <a:pathLst>
                <a:path w="4694104" h="2167467">
                  <a:moveTo>
                    <a:pt x="0" y="0"/>
                  </a:moveTo>
                  <a:lnTo>
                    <a:pt x="4694104" y="0"/>
                  </a:lnTo>
                  <a:lnTo>
                    <a:pt x="469410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1EB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IN" sz="4000" dirty="0">
                  <a:latin typeface="Lora" pitchFamily="2" charset="0"/>
                </a:rPr>
                <a:t>References</a:t>
              </a:r>
            </a:p>
            <a:p>
              <a:pPr algn="ctr"/>
              <a:endParaRPr lang="en-IN" sz="4000" dirty="0">
                <a:latin typeface="Lora" pitchFamily="2" charset="0"/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Ministry of Road Transport &amp; Highways (MoRTH) </a:t>
              </a:r>
              <a:r>
                <a:rPr lang="en-IN" sz="2000" dirty="0"/>
                <a:t>– Vahan Dashboard: Vehicle registration data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Federation of Automobile Dealers Associations (FADA) </a:t>
              </a:r>
              <a:r>
                <a:rPr lang="en-IN" sz="2000" dirty="0"/>
                <a:t>– Monthly vehicle retail data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Society of Indian Automobile Manufacturers (SIAM) </a:t>
              </a:r>
              <a:r>
                <a:rPr lang="en-IN" sz="2000" dirty="0"/>
                <a:t>– Statistics and publications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NITI Aayog (2025) </a:t>
              </a:r>
              <a:r>
                <a:rPr lang="en-IN" sz="2000" dirty="0"/>
                <a:t>– India Electric Mobility Index 2024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EV reporter (2025) </a:t>
              </a:r>
              <a:r>
                <a:rPr lang="en-IN" sz="2000" dirty="0"/>
                <a:t>– India EV sales and segment analysis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JMK Research (2024–2025) </a:t>
              </a:r>
              <a:r>
                <a:rPr lang="en-IN" sz="2000" dirty="0"/>
                <a:t>– EV penetration and segment reports</a:t>
              </a:r>
            </a:p>
            <a:p>
              <a:pPr marL="457200" indent="-457200">
                <a:buFont typeface="+mj-lt"/>
                <a:buAutoNum type="arabicPeriod"/>
              </a:pPr>
              <a:r>
                <a:rPr lang="en-IN" sz="2000" b="1" dirty="0"/>
                <a:t>International Energy Agency (IEA) </a:t>
              </a:r>
              <a:r>
                <a:rPr lang="en-IN" sz="2000" dirty="0"/>
                <a:t>– Global EV Outlook 2024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I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IN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IN" sz="2400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B0F6A8-ACA9-B645-3B09-7A047558CAC9}"/>
                </a:ext>
              </a:extLst>
            </p:cNvPr>
            <p:cNvSpPr txBox="1"/>
            <p:nvPr/>
          </p:nvSpPr>
          <p:spPr>
            <a:xfrm>
              <a:off x="0" y="-28575"/>
              <a:ext cx="4694104" cy="21960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0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Freeform 12">
            <a:extLst>
              <a:ext uri="{FF2B5EF4-FFF2-40B4-BE49-F238E27FC236}">
                <a16:creationId xmlns:a16="http://schemas.microsoft.com/office/drawing/2014/main" id="{B11BBFC3-D56C-D4E0-B687-09F93DD59368}"/>
              </a:ext>
            </a:extLst>
          </p:cNvPr>
          <p:cNvSpPr/>
          <p:nvPr/>
        </p:nvSpPr>
        <p:spPr>
          <a:xfrm>
            <a:off x="10699431" y="561348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4"/>
                </a:lnTo>
                <a:lnTo>
                  <a:pt x="0" y="167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09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561" y="2246108"/>
            <a:ext cx="6886331" cy="111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33"/>
              </a:lnSpc>
              <a:spcBef>
                <a:spcPct val="0"/>
              </a:spcBef>
            </a:pPr>
            <a:r>
              <a:rPr lang="en-US" sz="6666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Thank You !!!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843684" y="1571649"/>
            <a:ext cx="2449745" cy="2449745"/>
            <a:chOff x="6350" y="6350"/>
            <a:chExt cx="8903970" cy="8903970"/>
          </a:xfrm>
        </p:grpSpPr>
        <p:sp>
          <p:nvSpPr>
            <p:cNvPr id="4" name="Freeform 4"/>
            <p:cNvSpPr/>
            <p:nvPr/>
          </p:nvSpPr>
          <p:spPr>
            <a:xfrm>
              <a:off x="6350" y="6350"/>
              <a:ext cx="8903970" cy="8903970"/>
            </a:xfrm>
            <a:custGeom>
              <a:avLst/>
              <a:gdLst/>
              <a:ahLst/>
              <a:cxnLst/>
              <a:rect l="l" t="t" r="r" b="b"/>
              <a:pathLst>
                <a:path w="8903970" h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54940" y="154940"/>
              <a:ext cx="8605520" cy="8605520"/>
            </a:xfrm>
            <a:custGeom>
              <a:avLst/>
              <a:gdLst/>
              <a:ahLst/>
              <a:cxnLst/>
              <a:rect l="l" t="t" r="r" b="b"/>
              <a:pathLst>
                <a:path w="8605520" h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9330813" y="127084"/>
            <a:ext cx="2559677" cy="2119024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8"/>
                </a:lnTo>
                <a:lnTo>
                  <a:pt x="0" y="63520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>
            <a:off x="360681" y="561348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9" y="0"/>
                </a:lnTo>
                <a:lnTo>
                  <a:pt x="1786589" y="1676144"/>
                </a:lnTo>
                <a:lnTo>
                  <a:pt x="0" y="1676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1" y="5406708"/>
            <a:ext cx="12192001" cy="913705"/>
            <a:chOff x="0" y="0"/>
            <a:chExt cx="5039628" cy="14471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39628" cy="1447113"/>
            </a:xfrm>
            <a:custGeom>
              <a:avLst/>
              <a:gdLst/>
              <a:ahLst/>
              <a:cxnLst/>
              <a:rect l="l" t="t" r="r" b="b"/>
              <a:pathLst>
                <a:path w="5039628" h="1447113">
                  <a:moveTo>
                    <a:pt x="0" y="0"/>
                  </a:moveTo>
                  <a:lnTo>
                    <a:pt x="5039628" y="0"/>
                  </a:lnTo>
                  <a:lnTo>
                    <a:pt x="5039628" y="1447113"/>
                  </a:lnTo>
                  <a:lnTo>
                    <a:pt x="0" y="144711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039628" cy="1504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36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-1" y="3870668"/>
            <a:ext cx="2725481" cy="2449745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10699431" y="5613486"/>
            <a:ext cx="1191059" cy="1117430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4"/>
                </a:lnTo>
                <a:lnTo>
                  <a:pt x="0" y="1676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198</TotalTime>
  <Words>633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Narrow</vt:lpstr>
      <vt:lpstr>Calibri</vt:lpstr>
      <vt:lpstr>Calibri Light</vt:lpstr>
      <vt:lpstr>Dream Avenue</vt:lpstr>
      <vt:lpstr>Lora</vt:lpstr>
      <vt:lpstr>Lora Bold</vt:lpstr>
      <vt:lpstr>TAN Pearl</vt:lpstr>
      <vt:lpstr>Times New Roman</vt:lpstr>
      <vt:lpstr>Office Theme</vt:lpstr>
      <vt:lpstr>PowerPoint Presentation</vt:lpstr>
      <vt:lpstr>PowerPoint Presentation</vt:lpstr>
      <vt:lpstr>PowerPoint Presentation</vt:lpstr>
      <vt:lpstr>Research Gap </vt:lpstr>
      <vt:lpstr>PowerPoint Presentation</vt:lpstr>
      <vt:lpstr>PowerPoint Presentation</vt:lpstr>
      <vt:lpstr>Market Share Table (2021–2025)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M. A. Kumbhalkar</dc:creator>
  <cp:lastModifiedBy>poonam khot</cp:lastModifiedBy>
  <cp:revision>6</cp:revision>
  <dcterms:created xsi:type="dcterms:W3CDTF">2025-02-03T16:50:50Z</dcterms:created>
  <dcterms:modified xsi:type="dcterms:W3CDTF">2025-12-15T17:39:37Z</dcterms:modified>
</cp:coreProperties>
</file>